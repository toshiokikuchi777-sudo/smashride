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01. 概要と企画の背景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822960"/>
          <a:ext cx="53035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056"/>
                <a:gridCol w="3712464"/>
              </a:tblGrid>
              <a:tr h="62865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E5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 marL="63500" marR="63500" marT="25400" marB="25400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E5FF"/>
                          </a:solidFill>
                        </a:defRPr>
                      </a:pPr>
                      <a:r>
                        <a:t>内容 / 詳細</a:t>
                      </a:r>
                    </a:p>
                  </a:txBody>
                  <a:tcPr marL="63500" marR="63500" marT="25400" marB="25400">
                    <a:solidFill>
                      <a:srgbClr val="2828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タイトル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SMASH RIDE 🛹</a:t>
                      </a:r>
                    </a:p>
                  </a:txBody>
                  <a:tcPr marL="63500" marR="63500" marT="25400" marB="25400"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コンセプト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スケボーのスピード感 × 缶破壊の爽快感</a:t>
                      </a:r>
                    </a:p>
                  </a:txBody>
                  <a:tcPr marL="63500" marR="63500" marT="25400" marB="25400"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主なターゲット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Robloxユーザー (8〜18歳)、カジュアル層</a:t>
                      </a:r>
                    </a:p>
                  </a:txBody>
                  <a:tcPr marL="63500" marR="63500" marT="25400" marB="25400"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Drill Digging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成長モデル。訪問数: 9,700万+ | リリース: 2024/02</a:t>
                      </a:r>
                      <a:br/>
                      <a:r>
                        <a:t>Link: https://www.roblox.com/games/15873911365/</a:t>
                      </a:r>
                    </a:p>
                  </a:txBody>
                  <a:tcPr marL="63500" marR="63500" marT="25400" marB="25400"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Cut Trees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対象物の変化。訪問数: 3,400万+ | リリース: 2025/07</a:t>
                      </a:r>
                      <a:br/>
                      <a:r>
                        <a:t>Link: https://www.roblox.com/games/135880624242201/</a:t>
                      </a:r>
                    </a:p>
                  </a:txBody>
                  <a:tcPr marL="63500" marR="63500" marT="25400" marB="25400"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Pet Simulator 99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収集・倍率UP。訪問数: 23億+ | リリース: 2023/12</a:t>
                      </a:r>
                      <a:br/>
                      <a:r>
                        <a:t>Link: https://www.roblox.com/games/5969560376/</a:t>
                      </a:r>
                    </a:p>
                  </a:txBody>
                  <a:tcPr marL="63500" marR="63500" marT="25400" marB="25400"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クリック/中毒性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シンプルな操作、数値インフレ、報酬サイクルの高速化</a:t>
                      </a:r>
                    </a:p>
                  </a:txBody>
                  <a:tcPr marL="63500" marR="63500" marT="25400" marB="25400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60720" y="914400"/>
            <a:ext cx="3108960" cy="5029200"/>
          </a:xfrm>
          <a:prstGeom prst="rect">
            <a:avLst/>
          </a:prstGeom>
          <a:solidFill>
            <a:srgbClr val="3232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0" y="333756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[ IMAGE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02. コアループと進行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840480"/>
              </a:tblGrid>
              <a:tr h="52251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E5FF"/>
                          </a:solidFill>
                        </a:defRPr>
                      </a:pPr>
                      <a:r>
                        <a:t>フェーズ</a:t>
                      </a:r>
                    </a:p>
                  </a:txBody>
                  <a:tcPr marL="63500" marR="63500" marT="25400" marB="25400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E5FF"/>
                          </a:solidFill>
                        </a:defRPr>
                      </a:pPr>
                      <a:r>
                        <a:t>アクション ＆ 報酬詳細</a:t>
                      </a:r>
                    </a:p>
                  </a:txBody>
                  <a:tcPr marL="63500" marR="63500" marT="25400" marB="25400">
                    <a:solidFill>
                      <a:srgbClr val="28282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行動 (Action)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スケボーでの高速移動 ＆ ハンマーによる缶の破砕</a:t>
                      </a:r>
                    </a:p>
                  </a:txBody>
                  <a:tcPr marL="63500" marR="63500" marT="25400" marB="25400"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報酬 (Reward)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SCRAPポイント獲得、統計(破壊数)の加算</a:t>
                      </a:r>
                    </a:p>
                  </a:txBody>
                  <a:tcPr marL="63500" marR="63500" marT="25400" marB="25400"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強化 (Next)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ペットガチャ(倍率UP)、ハンマー購入(範囲・性能)</a:t>
                      </a:r>
                    </a:p>
                  </a:txBody>
                  <a:tcPr marL="63500" marR="63500" marT="25400" marB="25400"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Lv1 - 5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初期ワールド(赤/青)、基本的な操作と循環を習得</a:t>
                      </a:r>
                    </a:p>
                  </a:txBody>
                  <a:tcPr marL="63500" marR="63500" marT="25400" marB="25400"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Lv6 - 10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成長期(紫/黄)、マスター装備を目指してSCRAPを蓄積</a:t>
                      </a:r>
                    </a:p>
                  </a:txBody>
                  <a:tcPr marL="63500" marR="63500" marT="25400" marB="25400"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目標 (Goal)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次のワールドへのロック解除、ランキング上位挑戦</a:t>
                      </a:r>
                    </a:p>
                  </a:txBody>
                  <a:tcPr marL="63500" marR="63500" marT="25400" marB="25400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943600" y="914400"/>
            <a:ext cx="2926080" cy="5029200"/>
          </a:xfrm>
          <a:prstGeom prst="rect">
            <a:avLst/>
          </a:prstGeom>
          <a:solidFill>
            <a:srgbClr val="3232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3337560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[ IMAGE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03. 装備システム：ルールと性能設計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5943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4160520"/>
              </a:tblGrid>
              <a:tr h="5878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E5FF"/>
                          </a:solidFill>
                        </a:defRPr>
                      </a:pPr>
                      <a:r>
                        <a:t>要素 / 装備</a:t>
                      </a:r>
                    </a:p>
                  </a:txBody>
                  <a:tcPr marL="63500" marR="63500" marT="25400" marB="25400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E5FF"/>
                          </a:solidFill>
                        </a:defRPr>
                      </a:pPr>
                      <a:r>
                        <a:t>特徴 ＆ アップグレード効果</a:t>
                      </a:r>
                    </a:p>
                  </a:txBody>
                  <a:tcPr marL="63500" marR="63500" marT="25400" marB="25400">
                    <a:solidFill>
                      <a:srgbClr val="28282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スケボー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アイテム化、Lv1(16速)→Lv5(32速)への高速化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ジャンプ力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Lv1(50)→Lv5(100)、範囲破壊に直接影響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Smash Action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ジャンプ着地で範囲破壊、ボーナス1.5倍、スキル性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BASIC / SHOCK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初心者用(赤のみ) / 衝撃波(青まで破壊可能)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MULTI / HYBRID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複数色倍率(緑) / 万能範囲(紫まで対応)</a:t>
                      </a:r>
                    </a:p>
                  </a:txBody>
                  <a:tcPr marL="63500" marR="63500" marT="25400" marB="25400"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MASTER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究極装備。全色対応、圧倒的な破壊速度とスケール</a:t>
                      </a:r>
                    </a:p>
                  </a:txBody>
                  <a:tcPr marL="63500" marR="63500" marT="25400" marB="25400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400800" y="914400"/>
            <a:ext cx="2468880" cy="5029200"/>
          </a:xfrm>
          <a:prstGeom prst="rect">
            <a:avLst/>
          </a:prstGeom>
          <a:solidFill>
            <a:srgbClr val="3232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337560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[ IMAGE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04. ワールド展開 ＆ ペットシステム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840480"/>
              </a:tblGrid>
              <a:tr h="5878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E5FF"/>
                          </a:solidFill>
                        </a:defRPr>
                      </a:pPr>
                      <a:r>
                        <a:t>ワールド名</a:t>
                      </a:r>
                    </a:p>
                  </a:txBody>
                  <a:tcPr marL="63500" marR="63500" marT="25400" marB="25400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E5FF"/>
                          </a:solidFill>
                        </a:defRPr>
                      </a:pPr>
                      <a:r>
                        <a:t>テーマ ＆ 解放条件</a:t>
                      </a:r>
                    </a:p>
                  </a:txBody>
                  <a:tcPr marL="63500" marR="63500" marT="25400" marB="25400">
                    <a:solidFill>
                      <a:srgbClr val="28282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現代都市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スタート地点。缶・ビル景観。初期解放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SF未来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サイバーパンク、ホバー、ネオン缶。ステージ10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古代遺跡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壺・石像破壊。累計5,000缶破壊で解放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水中/マグマ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貝殻/溶岩。過酷環境、累計1〜2万破壊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ペット要素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11種、3スロット。ポイント倍率の飛躍的向上</a:t>
                      </a:r>
                    </a:p>
                  </a:txBody>
                  <a:tcPr marL="63500" marR="63500" marT="25400" marB="25400"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ガチャの進化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物理的なガチャゾーンへ移行(体験の向上)</a:t>
                      </a:r>
                    </a:p>
                  </a:txBody>
                  <a:tcPr marL="63500" marR="63500" marT="25400" marB="25400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943600" y="914400"/>
            <a:ext cx="2926080" cy="5029200"/>
          </a:xfrm>
          <a:prstGeom prst="rect">
            <a:avLst/>
          </a:prstGeom>
          <a:solidFill>
            <a:srgbClr val="3232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3337560"/>
            <a:ext cx="2926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[ IMAGE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05. システム ＆ ビジネス設計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5943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4160520"/>
              </a:tblGrid>
              <a:tr h="5878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E5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 marL="63500" marR="63500" marT="25400" marB="25400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E5FF"/>
                          </a:solidFill>
                        </a:defRPr>
                      </a:pPr>
                      <a:r>
                        <a:t>内容 ＆ 期待される効果</a:t>
                      </a:r>
                    </a:p>
                  </a:txBody>
                  <a:tcPr marL="63500" marR="63500" marT="25400" marB="25400">
                    <a:solidFill>
                      <a:srgbClr val="28282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勝利条件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終了なきエンドレス成長、ランキング上位到達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失敗条件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ミスやGame Over排除。純粋な癒やしと成長を提供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成長パス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ハンマー範囲・倍率、ペット倍率、スケボー機動力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GamePass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装備枠拡張、永久倍率ブースト、高ランク装備解放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DevProducts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SCRAPパック、ガチャ連、限定ペット販売</a:t>
                      </a:r>
                    </a:p>
                  </a:txBody>
                  <a:tcPr marL="63500" marR="63500" marT="25400" marB="25400"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広告報酬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無料ガチャ権、一時的なスピード/倍率、ブースト時間</a:t>
                      </a:r>
                    </a:p>
                  </a:txBody>
                  <a:tcPr marL="63500" marR="63500" marT="25400" marB="25400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400800" y="914400"/>
            <a:ext cx="2468880" cy="5029200"/>
          </a:xfrm>
          <a:prstGeom prst="rect">
            <a:avLst/>
          </a:prstGeom>
          <a:solidFill>
            <a:srgbClr val="3232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337560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[ IMAGE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06. 開発進捗 ＆ 未来の展望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520440"/>
              </a:tblGrid>
              <a:tr h="5878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E5FF"/>
                          </a:solidFill>
                        </a:defRPr>
                      </a:pPr>
                      <a:r>
                        <a:t>フェーズ</a:t>
                      </a:r>
                    </a:p>
                  </a:txBody>
                  <a:tcPr marL="63500" marR="63500" marT="25400" marB="25400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E5FF"/>
                          </a:solidFill>
                        </a:defRPr>
                      </a:pPr>
                      <a:r>
                        <a:t>マイルストーン ＆ 進捗状況</a:t>
                      </a:r>
                    </a:p>
                  </a:txBody>
                  <a:tcPr marL="63500" marR="63500" marT="25400" marB="25400">
                    <a:solidFill>
                      <a:srgbClr val="28282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実装済み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物理破壊、11種ペット、ガチャ、DataStore同期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現状課題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MASTER後のインフレ、Region3負荷対策、PvP要否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チュートリアル、パス設定、バランス微調整、リリース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SF未来ワールド、ボスバトル、アチーブメント</a:t>
                      </a:r>
                    </a:p>
                  </a:txBody>
                  <a:tcPr marL="63500" marR="63500" marT="25400" marB="25400"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KPI目標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DAU 1k、プレイ時間30min、Day1継続 40%</a:t>
                      </a:r>
                    </a:p>
                  </a:txBody>
                  <a:tcPr marL="63500" marR="63500" marT="25400" marB="25400"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E5FF"/>
                          </a:solidFill>
                        </a:defRPr>
                      </a:pPr>
                      <a:r>
                        <a:t>ビジョン</a:t>
                      </a:r>
                    </a:p>
                  </a:txBody>
                  <a:tcPr marL="63500" marR="63500" marT="25400" marB="25400"/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FFFFFF"/>
                          </a:solidFill>
                        </a:defRPr>
                      </a:pPr>
                      <a:r>
                        <a:t>Robloxにおける新感覚アクションクリッカーの確立</a:t>
                      </a:r>
                    </a:p>
                  </a:txBody>
                  <a:tcPr marL="63500" marR="63500" marT="25400" marB="25400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0" y="914400"/>
            <a:ext cx="3383280" cy="5029200"/>
          </a:xfrm>
          <a:prstGeom prst="rect">
            <a:avLst/>
          </a:prstGeom>
          <a:solidFill>
            <a:srgbClr val="3232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0" y="3337560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[ IMAGE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